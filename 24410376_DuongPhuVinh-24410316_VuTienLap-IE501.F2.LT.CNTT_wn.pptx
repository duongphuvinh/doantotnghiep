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71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>
        <p:scale>
          <a:sx n="125" d="100"/>
          <a:sy n="125" d="100"/>
        </p:scale>
        <p:origin x="127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81F65-981F-4BD5-8821-981DCBC59C57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97E6F-D14D-426D-BFE2-73C644DDC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2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97E6F-D14D-426D-BFE2-73C644DDC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4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50A-1E23-C135-2524-151B8F96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3B520-B889-CE1F-409B-7BEB1D38D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24448-51F5-C585-932E-DE676B897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C7AC8-FFDA-1EC3-9329-416B67095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97E6F-D14D-426D-BFE2-73C644DDCC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EA01-4BE7-2F3D-F8FB-4B7768D72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F0321-E9C6-93E7-A6F5-3CE279640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4A97-2C75-03A5-B7F8-EA9F2D8F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037C3-6881-EE6D-2AE3-EB1FA093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A9FF5-9DE9-25F6-3415-96B44C6F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3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3A1B-B439-A57A-BF22-65BDB1C0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BAD9-1576-4DAA-C252-7349716C8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AB28F-8E70-018C-EAAF-8A631CD2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51F2-D6D6-5E5F-3D5F-F7814C86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EEDB-A27D-3B8C-DE73-66242DD5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896D-30EE-8785-B061-092105F6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6E54-9C7C-EED2-CE26-EF84A745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6F96-894F-6055-DB66-D6E28AD0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B3794-2E13-515A-2996-CA1D50C8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EED5-982D-3306-4A3F-E385496F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4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CF3F-1B02-71FB-13CE-D61C6BE1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486C-23CD-30AA-BC46-4AB45EB05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CE02C-4E18-F6A2-7DF5-854C30985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C0426-D537-33DB-6407-148FD334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0F8CE-CA3B-1B4D-0FB6-A124546E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2391D-3C82-C17C-D3C6-13EC1B92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1BA37-9237-43E3-ED28-D6E93D6E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340EE-3188-F781-6632-6D628E57E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1D6C0-E39F-9249-593E-DF3D50455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13670-0F77-E3FE-75E0-06ADD63A9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31683-0F07-955A-A394-EE4444103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BF957-1CD7-E846-9DA2-14310E1D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12AC6-E5AB-3FE1-071A-D33CBA1D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8ABCA-36FD-49C3-3C47-98059DC6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5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0C35-CC89-E3DA-8415-46C8A652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B1292-D12B-910A-A944-02F1CF68C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22EFB-7199-BD58-7D90-10570140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D6D0F-6154-B844-D12D-96AFEB863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32607-BF5E-539C-FE74-EDE91B50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9EBDB-802B-34C1-BB78-B680DCF3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6CDB5-D68B-92F5-497A-7EAE1F5B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4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C1E8-92C9-4D46-0ED6-D89237A5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31E10-C748-70E0-7CF9-65D1970A8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06EC-58C1-421F-5D9A-13180FEB3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D0A49-9F9D-E8B4-C889-4F0710D9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77737-B7A7-3FBF-3725-22CA9B8C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88F76-5CE2-FA80-5596-6BAAACA5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3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0C44-DED4-5976-1AA3-2ECB8A2FB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8FF75-9D87-D9BD-D35D-16A2886F2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F74A3-751E-37CC-7351-25184210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E40F3-CF1C-9DE9-6ED2-91D47AB2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EBEE-9EBD-EF0B-AD50-CDE4F845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8C634-FD96-9F21-147F-CF3B408D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6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9D38-D387-C197-226A-32055989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2A386-43E7-AB7B-426E-53BB276E5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31063-A56E-F782-6E3B-AD7FD285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8A04A-1317-503F-B6C5-9501CEC2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FF40F-9AFD-CF79-244B-51FD8A37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B9A7D3-0AFE-B8A7-38A5-01AD93B82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3484D-B734-E37D-9E8E-8DE984F62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C6AF3-3AFC-3514-6536-7A0153B1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26C3E-BEE0-D050-BC76-D4AAD5B7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27796-6F82-A855-620C-ED634B6B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55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52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8829E-E90D-A764-A76D-99E18BDD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D7D3A-99E3-D33C-BD58-B115AC97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20FC4-5AAA-BF1A-25DA-03017B7B4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0882E-80DC-450D-99C1-9CDB7B22E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8C63-0BF3-5CE9-6EB7-2D6CB2C0B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3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718406" y="-441609"/>
            <a:ext cx="3273726" cy="1908177"/>
          </a:xfrm>
          <a:custGeom>
            <a:avLst/>
            <a:gdLst/>
            <a:ahLst/>
            <a:cxnLst/>
            <a:rect l="l" t="t" r="r" b="b"/>
            <a:pathLst>
              <a:path w="4910589" h="2862265">
                <a:moveTo>
                  <a:pt x="4910590" y="2862265"/>
                </a:moveTo>
                <a:lnTo>
                  <a:pt x="0" y="2862265"/>
                </a:lnTo>
                <a:lnTo>
                  <a:pt x="0" y="0"/>
                </a:lnTo>
                <a:lnTo>
                  <a:pt x="4910590" y="0"/>
                </a:lnTo>
                <a:lnTo>
                  <a:pt x="4910590" y="28622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/>
          <p:cNvSpPr/>
          <p:nvPr/>
        </p:nvSpPr>
        <p:spPr>
          <a:xfrm rot="-5002168" flipH="1" flipV="1">
            <a:off x="9896427" y="5524846"/>
            <a:ext cx="3219547" cy="3225411"/>
          </a:xfrm>
          <a:custGeom>
            <a:avLst/>
            <a:gdLst/>
            <a:ahLst/>
            <a:cxnLst/>
            <a:rect l="l" t="t" r="r" b="b"/>
            <a:pathLst>
              <a:path w="4829321" h="4838117">
                <a:moveTo>
                  <a:pt x="4829320" y="4838117"/>
                </a:moveTo>
                <a:lnTo>
                  <a:pt x="0" y="4838117"/>
                </a:lnTo>
                <a:lnTo>
                  <a:pt x="0" y="0"/>
                </a:lnTo>
                <a:lnTo>
                  <a:pt x="4829320" y="0"/>
                </a:lnTo>
                <a:lnTo>
                  <a:pt x="4829320" y="483811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4" name="Group 4"/>
          <p:cNvGrpSpPr/>
          <p:nvPr/>
        </p:nvGrpSpPr>
        <p:grpSpPr>
          <a:xfrm>
            <a:off x="-1296609" y="5243462"/>
            <a:ext cx="4514002" cy="3788177"/>
            <a:chOff x="0" y="0"/>
            <a:chExt cx="9028004" cy="7576355"/>
          </a:xfrm>
        </p:grpSpPr>
        <p:sp>
          <p:nvSpPr>
            <p:cNvPr id="5" name="Freeform 5"/>
            <p:cNvSpPr/>
            <p:nvPr/>
          </p:nvSpPr>
          <p:spPr>
            <a:xfrm>
              <a:off x="1422433" y="0"/>
              <a:ext cx="7605571" cy="4433105"/>
            </a:xfrm>
            <a:custGeom>
              <a:avLst/>
              <a:gdLst/>
              <a:ahLst/>
              <a:cxnLst/>
              <a:rect l="l" t="t" r="r" b="b"/>
              <a:pathLst>
                <a:path w="7605571" h="4433105">
                  <a:moveTo>
                    <a:pt x="0" y="0"/>
                  </a:moveTo>
                  <a:lnTo>
                    <a:pt x="7605571" y="0"/>
                  </a:lnTo>
                  <a:lnTo>
                    <a:pt x="7605571" y="4433105"/>
                  </a:lnTo>
                  <a:lnTo>
                    <a:pt x="0" y="4433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Freeform 6"/>
            <p:cNvSpPr/>
            <p:nvPr/>
          </p:nvSpPr>
          <p:spPr>
            <a:xfrm rot="7488824">
              <a:off x="1857199" y="1306427"/>
              <a:ext cx="3308593" cy="6253354"/>
            </a:xfrm>
            <a:custGeom>
              <a:avLst/>
              <a:gdLst/>
              <a:ahLst/>
              <a:cxnLst/>
              <a:rect l="l" t="t" r="r" b="b"/>
              <a:pathLst>
                <a:path w="3308593" h="6253354">
                  <a:moveTo>
                    <a:pt x="0" y="0"/>
                  </a:moveTo>
                  <a:lnTo>
                    <a:pt x="3308593" y="0"/>
                  </a:lnTo>
                  <a:lnTo>
                    <a:pt x="3308593" y="6253355"/>
                  </a:lnTo>
                  <a:lnTo>
                    <a:pt x="0" y="6253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Freeform 7"/>
          <p:cNvSpPr/>
          <p:nvPr/>
        </p:nvSpPr>
        <p:spPr>
          <a:xfrm rot="7488824">
            <a:off x="11578908" y="-1282673"/>
            <a:ext cx="2047353" cy="3869569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3"/>
                </a:lnTo>
                <a:lnTo>
                  <a:pt x="0" y="5804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Freeform 8"/>
          <p:cNvSpPr/>
          <p:nvPr/>
        </p:nvSpPr>
        <p:spPr>
          <a:xfrm>
            <a:off x="762000" y="526140"/>
            <a:ext cx="966823" cy="781515"/>
          </a:xfrm>
          <a:custGeom>
            <a:avLst/>
            <a:gdLst/>
            <a:ahLst/>
            <a:cxnLst/>
            <a:rect l="l" t="t" r="r" b="b"/>
            <a:pathLst>
              <a:path w="2134982" h="1725777">
                <a:moveTo>
                  <a:pt x="0" y="0"/>
                </a:moveTo>
                <a:lnTo>
                  <a:pt x="2134982" y="0"/>
                </a:lnTo>
                <a:lnTo>
                  <a:pt x="2134982" y="1725777"/>
                </a:lnTo>
                <a:lnTo>
                  <a:pt x="0" y="1725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Freeform 9"/>
          <p:cNvSpPr/>
          <p:nvPr/>
        </p:nvSpPr>
        <p:spPr>
          <a:xfrm>
            <a:off x="3309698" y="1297452"/>
            <a:ext cx="5366865" cy="4546809"/>
          </a:xfrm>
          <a:custGeom>
            <a:avLst/>
            <a:gdLst/>
            <a:ahLst/>
            <a:cxnLst/>
            <a:rect l="l" t="t" r="r" b="b"/>
            <a:pathLst>
              <a:path w="8050297" h="6820213">
                <a:moveTo>
                  <a:pt x="0" y="0"/>
                </a:moveTo>
                <a:lnTo>
                  <a:pt x="8050297" y="0"/>
                </a:lnTo>
                <a:lnTo>
                  <a:pt x="8050297" y="6820213"/>
                </a:lnTo>
                <a:lnTo>
                  <a:pt x="0" y="6820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</a:blip>
            <a:stretch>
              <a:fillRect r="-480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/>
          <p:cNvSpPr txBox="1"/>
          <p:nvPr/>
        </p:nvSpPr>
        <p:spPr>
          <a:xfrm>
            <a:off x="6092826" y="2253022"/>
            <a:ext cx="6350" cy="90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4"/>
              </a:lnSpc>
              <a:spcBef>
                <a:spcPct val="0"/>
              </a:spcBef>
            </a:pPr>
            <a:endParaRPr sz="1200"/>
          </a:p>
        </p:txBody>
      </p:sp>
      <p:sp>
        <p:nvSpPr>
          <p:cNvPr id="12" name="TextBox 12"/>
          <p:cNvSpPr txBox="1"/>
          <p:nvPr/>
        </p:nvSpPr>
        <p:spPr>
          <a:xfrm>
            <a:off x="1465944" y="526140"/>
            <a:ext cx="9681031" cy="888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67" dirty="0">
                <a:solidFill>
                  <a:srgbClr val="0C3571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TRƯỜNG ĐẠI HỌC CÔNG NGHỆ THÔNG TIN</a:t>
            </a:r>
          </a:p>
          <a:p>
            <a:pPr algn="ctr">
              <a:lnSpc>
                <a:spcPts val="3640"/>
              </a:lnSpc>
            </a:pPr>
            <a:r>
              <a:rPr lang="en-US" sz="2667" b="1" dirty="0">
                <a:solidFill>
                  <a:srgbClr val="0C3571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TRUNG TÂM PHÁT TRIỂN CÔNG NGHỆ THÔNG TIN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6673" y="6116631"/>
            <a:ext cx="11665327" cy="422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C357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THÀNH PHỐ HỒ CHÍ MINH, NGÀY 13 THÁNG 06 NĂM 2026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F9D102-4D2A-2A7F-E9DF-03FBC4E3ABA5}"/>
              </a:ext>
            </a:extLst>
          </p:cNvPr>
          <p:cNvGrpSpPr/>
          <p:nvPr/>
        </p:nvGrpSpPr>
        <p:grpSpPr>
          <a:xfrm>
            <a:off x="526673" y="2141010"/>
            <a:ext cx="11665327" cy="2875345"/>
            <a:chOff x="790009" y="3605212"/>
            <a:chExt cx="17497991" cy="4313018"/>
          </a:xfrm>
        </p:grpSpPr>
        <p:sp>
          <p:nvSpPr>
            <p:cNvPr id="10" name="TextBox 10"/>
            <p:cNvSpPr txBox="1"/>
            <p:nvPr/>
          </p:nvSpPr>
          <p:spPr>
            <a:xfrm>
              <a:off x="790009" y="3605212"/>
              <a:ext cx="17497991" cy="1315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67"/>
                </a:lnSpc>
              </a:pPr>
              <a:r>
                <a:rPr lang="en-US" sz="5334" b="1" dirty="0">
                  <a:solidFill>
                    <a:srgbClr val="0C357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BẢO VỆ ĐỒ ÁN TỐT NGHIỆP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9383" y="5457801"/>
              <a:ext cx="15859242" cy="89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3"/>
                </a:lnSpc>
                <a:spcBef>
                  <a:spcPct val="0"/>
                </a:spcBef>
              </a:pPr>
              <a:r>
                <a:rPr lang="en-US" sz="3666" b="1" dirty="0">
                  <a:solidFill>
                    <a:srgbClr val="0C357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CỬ NHÂN CÔNG NGHỆ THÔNG TIN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88DEF2-DA65-5A99-1674-2A4C29CB1994}"/>
                </a:ext>
              </a:extLst>
            </p:cNvPr>
            <p:cNvSpPr txBox="1"/>
            <p:nvPr/>
          </p:nvSpPr>
          <p:spPr>
            <a:xfrm>
              <a:off x="5616817" y="6948733"/>
              <a:ext cx="6870150" cy="969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>
                  <a:latin typeface="Open Sans Bold" pitchFamily="2" charset="0"/>
                  <a:ea typeface="Open Sans Bold" pitchFamily="2" charset="0"/>
                  <a:cs typeface="Open Sans Bold" pitchFamily="2" charset="0"/>
                </a:rPr>
                <a:t>HỆ ĐÀO TẠO TỪ XA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72500" y="1047750"/>
            <a:ext cx="2381250" cy="2381250"/>
          </a:xfrm>
          <a:prstGeom prst="ellipse">
            <a:avLst/>
          </a:prstGeom>
          <a:solidFill>
            <a:srgbClr val="102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0" y="2000250"/>
            <a:ext cx="1714500" cy="1714500"/>
          </a:xfrm>
          <a:prstGeom prst="ellipse">
            <a:avLst/>
          </a:prstGeom>
          <a:solidFill>
            <a:srgbClr val="163A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96500" y="2571750"/>
            <a:ext cx="571500" cy="5715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6750" y="685800"/>
            <a:ext cx="34290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TỐT NGHIỆP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50" y="1257300"/>
            <a:ext cx="7905750" cy="1809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Xây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dựng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khung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học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đa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phương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thức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trong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chẩn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đoán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bệnh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lý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xương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kết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hợp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dữ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liệu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hình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ảnh</a:t>
            </a:r>
            <a:r>
              <a:rPr lang="en-US" sz="3200" b="1" dirty="0">
                <a:solidFill>
                  <a:schemeClr val="bg1"/>
                </a:solidFill>
              </a:rPr>
              <a:t> y khoa </a:t>
            </a:r>
            <a:r>
              <a:rPr lang="en-US" sz="3200" b="1" dirty="0" err="1">
                <a:solidFill>
                  <a:schemeClr val="bg1"/>
                </a:solidFill>
              </a:rPr>
              <a:t>và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các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chỉ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số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lâm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sàng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160514"/>
            <a:ext cx="85534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• Model Context Protocol • Phân tích phim xương • Xét nghiệm • Fusion đa phương thức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686531"/>
            <a:ext cx="51435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829263"/>
            <a:ext cx="1714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thực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5087392"/>
            <a:ext cx="4000500" cy="5895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Dương </a:t>
            </a:r>
            <a:r>
              <a:rPr lang="en-US" sz="1700" b="1" dirty="0" err="1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Phú</a:t>
            </a: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Vinh 	 MSSV: 24410376 </a:t>
            </a:r>
          </a:p>
          <a:p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Vũ Tiến Lập 	 MSSV: 24410316 </a:t>
            </a:r>
          </a:p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4BCA4C4-26A0-8233-7247-6CF7A35B3A96}"/>
              </a:ext>
            </a:extLst>
          </p:cNvPr>
          <p:cNvSpPr/>
          <p:nvPr/>
        </p:nvSpPr>
        <p:spPr>
          <a:xfrm>
            <a:off x="708660" y="3896855"/>
            <a:ext cx="1714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viên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hướng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dẫn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C708DF2-F1AB-9E6F-6A7C-7371A3009372}"/>
              </a:ext>
            </a:extLst>
          </p:cNvPr>
          <p:cNvSpPr/>
          <p:nvPr/>
        </p:nvSpPr>
        <p:spPr>
          <a:xfrm>
            <a:off x="685800" y="4155460"/>
            <a:ext cx="4000500" cy="3709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ThS</a:t>
            </a:r>
            <a:r>
              <a:rPr lang="en-US" b="1" dirty="0">
                <a:solidFill>
                  <a:schemeClr val="bg1"/>
                </a:solidFill>
              </a:rPr>
              <a:t>. </a:t>
            </a:r>
            <a:r>
              <a:rPr lang="en-US" b="1" dirty="0" err="1">
                <a:solidFill>
                  <a:schemeClr val="bg1"/>
                </a:solidFill>
              </a:rPr>
              <a:t>Đỗ</a:t>
            </a:r>
            <a:r>
              <a:rPr lang="en-US" b="1" dirty="0">
                <a:solidFill>
                  <a:schemeClr val="bg1"/>
                </a:solidFill>
              </a:rPr>
              <a:t> Minh Tiến</a:t>
            </a:r>
            <a:endParaRPr lang="en-US" sz="17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Thông tin y khoa bị phân mảnh, còn chatbot đơn lẻ thiếu ngữ cảnh.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66750" y="2333625"/>
            <a:ext cx="2476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THỰC TẾ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762250"/>
            <a:ext cx="133350" cy="13335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0125" y="266700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Văn bản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125" y="289560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bệnh lý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390900"/>
            <a:ext cx="133350" cy="1333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0125" y="329565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Hình ảnh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0125" y="352425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X-quang / CT / MRI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019550"/>
            <a:ext cx="133350" cy="1333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125" y="392430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415290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Máu / nước tiểu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648200"/>
            <a:ext cx="133350" cy="1333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125" y="455295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Lâm sàng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125" y="478155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chứng / tiền sử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76750" y="2381250"/>
            <a:ext cx="9525" cy="2857500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8750" y="2333625"/>
            <a:ext cx="3333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NẾU XỬ LÝ TÁCH RỜI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8750" y="2809875"/>
            <a:ext cx="4000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Trả lời thiếu căn cứ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238749" y="3476625"/>
            <a:ext cx="4985905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Bỏ sót tín hiệu quan trọng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238750" y="4143375"/>
            <a:ext cx="4000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Khó đánh giá độ tin cậy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5238750" y="5000625"/>
            <a:ext cx="3905250" cy="323850"/>
          </a:xfrm>
          <a:prstGeom prst="round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38750" y="5010150"/>
            <a:ext cx="39052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toán: kết nối dữ liệu + kiểm soát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Đồ án chuyển khoảng trống đó thành năm mục tiêu kỹ thuật cụ thể.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286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 cứu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01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hiểu câu hỏi y khoa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84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099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099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Truy xuất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099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đưa dữ liệu nội bộ vào ngữ cảnh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482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97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97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Phân tích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197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và xét nghiệm có kết quả cấu trúc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580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295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295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hợp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295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kết hợp nhiều tín hiệu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67850" y="2428875"/>
            <a:ext cx="19050" cy="2667000"/>
          </a:xfrm>
          <a:prstGeom prst="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393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393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Đánh giá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393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thay cho nhận xét cảm tính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PHẠM VI SẢN PHẨM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Một trải nghiệm web kết nối toàn bộ quy trình hỗ trợ.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762500" y="2619375"/>
            <a:ext cx="2476500" cy="2476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62500" y="3333750"/>
            <a:ext cx="2476500" cy="857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TRỢ LÝ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KHOA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2476500"/>
            <a:ext cx="1238250" cy="123825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905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81250" y="4762500"/>
            <a:ext cx="1238250" cy="12382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81250" y="5191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Phim xương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0" y="4762500"/>
            <a:ext cx="1238250" cy="12382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0" y="5191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53500" y="2476500"/>
            <a:ext cx="1238250" cy="12382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53500" y="2905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57750" y="1857375"/>
            <a:ext cx="1238250" cy="1238250"/>
          </a:xfrm>
          <a:prstGeom prst="ellipse">
            <a:avLst/>
          </a:prstGeom>
          <a:solidFill>
            <a:srgbClr val="E8E1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7750" y="2286000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model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81250" y="30956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80469" y="31115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79688" y="31273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78906" y="31432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78125" y="31591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77344" y="31750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76562" y="31908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075781" y="32067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5000" y="32226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74219" y="32385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73438" y="32543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2656" y="32702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71875" y="32861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71094" y="33020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70313" y="33178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69531" y="33337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68750" y="33496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67969" y="33655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67187" y="33813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66406" y="33972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65625" y="34131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64844" y="34290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64062" y="34448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281" y="34607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19500" y="4953000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86969" y="492720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54438" y="490140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21906" y="487560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889375" y="484981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56844" y="482401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024312" y="479821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091781" y="4772422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59250" y="4746625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26719" y="4720828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294188" y="4695031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361656" y="4669234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429125" y="4643438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496594" y="4617641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64063" y="4591844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631531" y="4566047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99000" y="4540250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66469" y="451445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833938" y="448865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901406" y="446285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968875" y="443706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36344" y="441126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103813" y="438546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171281" y="4359672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239000" y="4333875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274719" y="4359672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310437" y="438546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346156" y="441126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381875" y="443706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417594" y="446285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453312" y="448865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489031" y="451445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524750" y="4540250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560469" y="4566047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596187" y="4591844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631906" y="4617641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667625" y="4643438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03344" y="4669234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739062" y="4695031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774781" y="4720828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810500" y="4746625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846219" y="4772422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881937" y="479821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17656" y="482401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953375" y="484981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989094" y="487560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024812" y="490140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060531" y="492720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239000" y="34766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7310437" y="34607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381875" y="34448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453312" y="34290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524750" y="34131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596187" y="33972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667625" y="33813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739062" y="33655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810500" y="33496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881937" y="33337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7953375" y="33178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024812" y="33020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096250" y="32861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167687" y="32702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239125" y="32543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310562" y="32385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382000" y="32226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453438" y="32067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524875" y="31908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596313" y="31750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667750" y="31591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739188" y="31432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810625" y="31273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882063" y="31115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phân lớp tách hội thoại, công cụ, nghiệp vụ y khoa và lưu trữ.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6750" y="2667000"/>
            <a:ext cx="1619250" cy="857250"/>
          </a:xfrm>
          <a:prstGeom prst="round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50" y="2800350"/>
            <a:ext cx="13144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9150" y="3095625"/>
            <a:ext cx="1314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 duyệt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57500" y="2381250"/>
            <a:ext cx="2000250" cy="1428750"/>
          </a:xfrm>
          <a:prstGeom prst="round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09900" y="2514600"/>
            <a:ext cx="16954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Chat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09900" y="2809875"/>
            <a:ext cx="169545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• TypeScript • API routes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24500" y="2381250"/>
            <a:ext cx="2000250" cy="1428750"/>
          </a:xfrm>
          <a:prstGeom prst="round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76900" y="2514600"/>
            <a:ext cx="16954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76900" y="2809875"/>
            <a:ext cx="169545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cụ và truy xuất ngữ cảnh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1500" y="2381250"/>
            <a:ext cx="2190750" cy="1428750"/>
          </a:xfrm>
          <a:prstGeom prst="round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3900" y="2514600"/>
            <a:ext cx="18859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43900" y="2809875"/>
            <a:ext cx="188595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• Lab • Clinical • Fusion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53000" y="4762500"/>
            <a:ext cx="2286000" cy="857250"/>
          </a:xfrm>
          <a:prstGeom prst="roundRect">
            <a:avLst/>
          </a:prstGeom>
          <a:solidFill>
            <a:srgbClr val="E8E1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5400" y="4895850"/>
            <a:ext cx="19812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/ pgvector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05400" y="5191125"/>
            <a:ext cx="19812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Hội thoại • dữ liệu nội bộ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72500" y="4762500"/>
            <a:ext cx="1809750" cy="8572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24900" y="4895850"/>
            <a:ext cx="15049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24900" y="5191125"/>
            <a:ext cx="150495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model / CNN-ready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3095625"/>
            <a:ext cx="5715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57750" y="3095625"/>
            <a:ext cx="66675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24750" y="3095625"/>
            <a:ext cx="66675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24625" y="381000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06766" y="3849688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88906" y="388937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1047" y="3929063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53187" y="3968750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35328" y="4008438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17469" y="404812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99609" y="4087812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81750" y="412750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63891" y="4167187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46031" y="4206875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28172" y="4246562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10312" y="428625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92453" y="4325938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74594" y="436562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56734" y="4405313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38875" y="4445000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21016" y="4484688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03156" y="452437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85297" y="4564063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67437" y="460375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49578" y="4643438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31719" y="4683125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13859" y="4722813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286875" y="381000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294813" y="3849688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302750" y="388937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310688" y="3929063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318625" y="3968750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326563" y="4008438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334500" y="404812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342438" y="4087812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350375" y="412750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358313" y="4167187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366250" y="4206875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374188" y="4246562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382125" y="428625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390063" y="4325938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398000" y="436562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405937" y="4405313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13875" y="4445000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421812" y="4484688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429750" y="452437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437688" y="4564063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445625" y="460375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53563" y="4643438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461500" y="4683125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469438" y="4722813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RAG / MCP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và MCP giúp chatbot trả lời bằng ngữ cảnh nội bộ liên quan.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33450" y="2857500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3450" y="2962275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3375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0996" y="3901439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hỏi bằng tiếng Việt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47799" y="3105150"/>
            <a:ext cx="9532621" cy="45719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33775" y="2851785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33775" y="2956560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33699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diện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81324" y="3895723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loại câu hỏi và chủ đề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35027" y="2804160"/>
            <a:ext cx="514350" cy="5143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35027" y="2908935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34952" y="3529966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Truy xuất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93029" y="3895723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dữ liệu nội bộ liên quan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36280" y="2817496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36280" y="2922271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36205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câu trả lời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53338" y="3901439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dùng ngữ cảnh đã chọn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553700" y="2868931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53700" y="2973706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53625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Phản hồi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981247" y="3895723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kết quả về giao diện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1375" y="5191125"/>
            <a:ext cx="5429250" cy="323850"/>
          </a:xfrm>
          <a:prstGeom prst="round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1375" y="5200650"/>
            <a:ext cx="54292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chuẩn hóa cách mô hình gọi công cụ và nhận kết quả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PHIM XƯƠNG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ảnh biến một file upload thành gợi ý model có kiểm soát.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675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20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820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X-quang / CT / MRI / DICOM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8125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5750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895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895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2895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Định dạng • sáng tối • độ rõ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4825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970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970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970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hóa • tăng tương phản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275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39000" y="2667000"/>
            <a:ext cx="1714500" cy="18097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1045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1045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1045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• fracture • arthritis • osteoporosis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5350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42975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Nhãn • confidence • cảnh báo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TOÀN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Chính sách an toàn là một tính năng sản phẩm, không chỉ là lời cảnh báo.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4095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DỮ LIỆU ĐỦ TỐT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2762250"/>
            <a:ext cx="4476750" cy="2190750"/>
          </a:xfrm>
          <a:prstGeom prst="round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5375" y="3095625"/>
            <a:ext cx="3714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model_prediction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5375" y="3714750"/>
            <a:ext cx="3714750" cy="857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được phép đưa ra gợi ý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Confidence được hiệu chỉnh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Ngôn ngữ: “nghi ngờ”, “model gợi ý”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7500" y="2381250"/>
            <a:ext cx="4191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DỮ LIỆU KHÔNG ĐỦ TIN CẬY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67500" y="2762250"/>
            <a:ext cx="4476750" cy="21907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00875" y="3095625"/>
            <a:ext cx="3714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analysis_only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000875" y="3714750"/>
            <a:ext cx="3714750" cy="857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Ảnh quá tối, quá sáng hoặc không phù hợp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khẳng định bệnh lý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Yêu cầu kiểm tra lại dữ liệu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1375" y="5572125"/>
            <a:ext cx="5429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kết quả đều cần bác sĩ đối chiếu phim gốc.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xét nghiệm chuyển các giá trị thô thành báo cáo dễ đọc.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6750" y="2333625"/>
            <a:ext cx="6667500" cy="3429000"/>
          </a:xfrm>
          <a:prstGeom prst="round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125" y="2619375"/>
            <a:ext cx="2857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XÉT NGHIỆM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0125" y="354330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0125" y="314325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Hemoglobin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1375" y="31432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13.8 g/dL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34000" y="3181350"/>
            <a:ext cx="95250" cy="952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24500" y="31432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Bình thường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0125" y="409575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125" y="369570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1375" y="36957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 mg/dL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0" y="3733800"/>
            <a:ext cx="95250" cy="952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24500" y="36957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Cần chú 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0125" y="464820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0125" y="424815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1375" y="42481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 mg/dL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34000" y="4286250"/>
            <a:ext cx="95250" cy="952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24500" y="42481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Bình thường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0125" y="520065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0125" y="480060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1375" y="48006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34000" y="4838700"/>
            <a:ext cx="95250" cy="952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4500" y="48006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Chưa nhận diện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91500" y="2571750"/>
            <a:ext cx="2476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RA CÓ CẤU TRÚC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91500" y="3095625"/>
            <a:ext cx="26670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Danh sách chỉ số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Số lượng bất thường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Mức độ cần chú ý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Diễn giải tham khảo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Khuyến nghị tiếp theo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ĐA PHƯƠNG THỨC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tăng mức ưu tiên khi các tín hiệu độc lập cùng chỉ về một nguy cơ.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714500" y="3333750"/>
            <a:ext cx="1809750" cy="180975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91125" y="3333750"/>
            <a:ext cx="1809750" cy="18097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67750" y="3333750"/>
            <a:ext cx="1809750" cy="18097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14500" y="41338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8750" y="415290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LÂM SÀNG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67750" y="415290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24250" y="4238625"/>
            <a:ext cx="1666875" cy="28575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00875" y="4238625"/>
            <a:ext cx="1666875" cy="28575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4250" y="5286375"/>
            <a:ext cx="5143500" cy="466725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43375" y="5381625"/>
            <a:ext cx="3905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tổng hợp  →  Nguy cơ thấp / trung bình / cao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00375" y="6000750"/>
            <a:ext cx="61912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dụ: ảnh gãy kín đáo + đau khu trú + sưng nề → ưu tiên xem lại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xác nhận pipeline hoạt động, đồng thời chỉ rõ giới hạn của model demo.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4375" y="2381250"/>
            <a:ext cx="2857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56,58%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762000" y="3190875"/>
            <a:ext cx="2095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4375" y="3857625"/>
            <a:ext cx="2857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4ED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56,98%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762000" y="4667250"/>
            <a:ext cx="2095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xấp xỉ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6193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Osteoporosis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1250" y="26479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91250" y="2647950"/>
            <a:ext cx="2743143" cy="171450"/>
          </a:xfrm>
          <a:prstGeom prst="round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82250" y="26193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68.57%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3051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Arthritis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1250" y="33337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1250" y="3333750"/>
            <a:ext cx="2222678" cy="171450"/>
          </a:xfrm>
          <a:prstGeom prst="round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82250" y="33051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55.56%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909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1250" y="40195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91250" y="4019550"/>
            <a:ext cx="2200275" cy="1714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82250" y="39909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55.00%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6767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1250" y="47053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91250" y="4705350"/>
            <a:ext cx="1951444" cy="171450"/>
          </a:xfrm>
          <a:prstGeom prst="roundRect">
            <a:avLst/>
          </a:prstGeom>
          <a:solidFill>
            <a:srgbClr val="A8B8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82250" y="46767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48.78%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5572125"/>
            <a:ext cx="6572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308 mẫu train  •  76 mẫu test  •  Dữ liệu demo, chưa đủ để đánh giá lâm sàng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KỊCH BẢN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đi theo một ca sử dụng xuyên suốt, từ câu hỏi đến báo cáo tổng hợp.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6200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5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Hỏi chatbot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675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chứng của bệnh gout?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33500" y="3238500"/>
            <a:ext cx="8763000" cy="45719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5275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275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5750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phim xương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5750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nhãn, confidence, cảnh báo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4250" y="3238500"/>
            <a:ext cx="1524000" cy="28575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350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350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825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 dữ liệu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4825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chứng và xét nghiệm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3238500"/>
            <a:ext cx="1524000" cy="28575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4250" y="2952750"/>
            <a:ext cx="571500" cy="5715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3425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3900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fusion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3900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mức nguy cơ và báo cáo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5750" y="3238500"/>
            <a:ext cx="1524000" cy="28575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2500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2500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2975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metrics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42975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kết quả mô hình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VÀ GIỚI HẠN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đã hoàn thiện luồng chức năng, nhưng chưa sẵn sàng cho triển khai lâm sàng.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3333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ĐÃ ĐẠT ĐƯỢC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857500"/>
            <a:ext cx="4476750" cy="2000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Ứng dụng web nhiều module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Chatbot AI tích hợp RAG/MCP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Pipeline ảnh, lab và fusion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Module đánh giá metrics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Lưu lịch sử và cảnh báo an toàn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05500" y="2333625"/>
            <a:ext cx="9525" cy="3048000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67500" y="2381250"/>
            <a:ext cx="3714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CHƯA THỂ KHẲNG ĐỊNH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67500" y="2857500"/>
            <a:ext cx="4095750" cy="2000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ảnh đại diện cho bệnh viện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 chính xác đủ cho chẩn đoán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có nguồn trích dẫn chuẩn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mật và phân quyền production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Hiệu quả sử dụng với bác sĩ thật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Lộ trình tiếp theo đưa hệ thống từ demo kỹ thuật đến nền tảng có thể kiểm định.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43000" y="3429000"/>
            <a:ext cx="9715500" cy="28575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2500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2500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7250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thật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7250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Nhãn được xác nhận bởi bác sĩ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86125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86125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90875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mạnh hơn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90875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/ Transformer và test độc lập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19750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19750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24500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đáng tin cậy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24500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database và trích dẫn nguồn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3375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3375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58125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học máy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58125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Thay rule-weighted baseline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87000" y="3143250"/>
            <a:ext cx="609600" cy="6096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87000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91750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định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191750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mật, usability, lâm sàng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50" y="762000"/>
            <a:ext cx="228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6750" y="1476375"/>
            <a:ext cx="9144000" cy="2476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y khoa chỉ thực sự hữu ích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khi đủ thông minh để hỗ trợ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và đủ thận trọng để an toàn.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85800" y="4619625"/>
            <a:ext cx="74295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953000"/>
            <a:ext cx="7429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tạo nền tảng tích hợp chatbot, RAG, MCP, ảnh, xét nghiệm, fusion và đánh giá mô hình trong một hệ thống thống nhất.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1B2C-696F-C8E3-20D6-899FA953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3E6830D-2288-ACEF-56BC-897B2A36FDBB}"/>
              </a:ext>
            </a:extLst>
          </p:cNvPr>
          <p:cNvSpPr/>
          <p:nvPr/>
        </p:nvSpPr>
        <p:spPr>
          <a:xfrm>
            <a:off x="3309698" y="1297452"/>
            <a:ext cx="5366865" cy="4546809"/>
          </a:xfrm>
          <a:custGeom>
            <a:avLst/>
            <a:gdLst/>
            <a:ahLst/>
            <a:cxnLst/>
            <a:rect l="l" t="t" r="r" b="b"/>
            <a:pathLst>
              <a:path w="8050297" h="6820213">
                <a:moveTo>
                  <a:pt x="0" y="0"/>
                </a:moveTo>
                <a:lnTo>
                  <a:pt x="8050297" y="0"/>
                </a:lnTo>
                <a:lnTo>
                  <a:pt x="8050297" y="6820213"/>
                </a:lnTo>
                <a:lnTo>
                  <a:pt x="0" y="68202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r="-480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0AA73C7-EAE0-04DA-D46F-625358FC84AF}"/>
              </a:ext>
            </a:extLst>
          </p:cNvPr>
          <p:cNvSpPr txBox="1"/>
          <p:nvPr/>
        </p:nvSpPr>
        <p:spPr>
          <a:xfrm>
            <a:off x="6092826" y="2253022"/>
            <a:ext cx="6350" cy="90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4"/>
              </a:lnSpc>
              <a:spcBef>
                <a:spcPct val="0"/>
              </a:spcBef>
            </a:pPr>
            <a:endParaRPr sz="12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9ECD51-3AAD-CD5E-7554-CC1C6EC0F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3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4283BA6438AD5F48ABC4C9B114323AFA" ma:contentTypeVersion="10" ma:contentTypeDescription="Tạo tài liệu mới." ma:contentTypeScope="" ma:versionID="09952673bad01a29d1e7ddff65f0755b">
  <xsd:schema xmlns:xsd="http://www.w3.org/2001/XMLSchema" xmlns:xs="http://www.w3.org/2001/XMLSchema" xmlns:p="http://schemas.microsoft.com/office/2006/metadata/properties" xmlns:ns3="5d51b43a-6a59-4f03-b9c9-068d11dd21ac" targetNamespace="http://schemas.microsoft.com/office/2006/metadata/properties" ma:root="true" ma:fieldsID="df0c32fb3bb0cde736af71c8cef8b787" ns3:_="">
    <xsd:import namespace="5d51b43a-6a59-4f03-b9c9-068d11dd21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1b43a-6a59-4f03-b9c9-068d11dd21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51b43a-6a59-4f03-b9c9-068d11dd21ac" xsi:nil="true"/>
  </documentManagement>
</p:properties>
</file>

<file path=customXml/itemProps1.xml><?xml version="1.0" encoding="utf-8"?>
<ds:datastoreItem xmlns:ds="http://schemas.openxmlformats.org/officeDocument/2006/customXml" ds:itemID="{14127DA9-DB5E-4659-A42A-FC306B61F3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51b43a-6a59-4f03-b9c9-068d11dd2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18A7DD-6251-4447-8485-143971D063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757B41-8A03-4A78-AF1E-DB88710B2050}">
  <ds:schemaRefs>
    <ds:schemaRef ds:uri="http://purl.org/dc/terms/"/>
    <ds:schemaRef ds:uri="http://schemas.microsoft.com/office/2006/documentManagement/types"/>
    <ds:schemaRef ds:uri="5d51b43a-6a59-4f03-b9c9-068d11dd21ac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1141</Words>
  <Application>Microsoft Office PowerPoint</Application>
  <PresentationFormat>Widescreen</PresentationFormat>
  <Paragraphs>245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Georgia</vt:lpstr>
      <vt:lpstr>Open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Vũ Tiến Lập</dc:creator>
  <cp:lastModifiedBy>Vũ Tiến Lập</cp:lastModifiedBy>
  <cp:revision>35</cp:revision>
  <dcterms:created xsi:type="dcterms:W3CDTF">2026-06-09T14:25:01Z</dcterms:created>
  <dcterms:modified xsi:type="dcterms:W3CDTF">2026-06-09T15:29:00Z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0x0101004283BA6438AD5F48ABC4C9B114323AFA</vt:lpwstr>
  </property>
</Properties>
</file>